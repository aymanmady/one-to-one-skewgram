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One-to-One SkewGRAM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C9CDDA"/>
                </a:solidFill>
              </a:rPr>
              <a:t>Optimisation combinatoire par embeddings de nœuds et décodage guidé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48840"/>
            <a:ext cx="2011680" cy="54864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A9FB0"/>
                </a:solidFill>
              </a:rPr>
              <a:t>Bechir Mady, Abderahmane Abderrahmane, El Moustapha Mohamed El Moustapha, Mohamedou Yahya Cheikh Mohamed Vall</a:t>
            </a:r>
          </a:p>
          <a:p>
            <a:r>
              <a:rPr sz="1400">
                <a:solidFill>
                  <a:srgbClr val="9A9FB0"/>
                </a:solidFill>
              </a:rPr>
              <a:t>Institut Supérieur du Numérique (SupNum), Nouakchott, Mauritanie — I2COMSAPP'26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E2B"/>
                </a:solidFill>
              </a:rPr>
              <a:t>Le problème (D, G)-consistant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371600" cy="54864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B1E2B"/>
                </a:solidFill>
              </a:rPr>
              <a:t>Objectif : trouver le plus long chemin cohérent à travers deux réseaux biologiques simultanément.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5A5F6E"/>
                </a:solidFill>
              </a:rPr>
              <a:t>Un graphe orienté acyclique D = (V, A)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5A5F6E"/>
                </a:solidFill>
              </a:rPr>
              <a:t>modélise des processus biologiques dirigés (voies métaboliques, réactions enzymatiques)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5A5F6E"/>
                </a:solidFill>
              </a:rPr>
              <a:t>Un graphe non-orienté G = (V, E)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5A5F6E"/>
                </a:solidFill>
              </a:rPr>
              <a:t>modélise des associations fonctionnelles (interactions protéine-protéine, proximité génomique)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B1E2B"/>
                </a:solidFill>
              </a:rPr>
              <a:t>Un chemin P est (D,G)-consistant s'il respecte l'ordre causal dans D ET si le sous-graphe induit dans G est connexe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B1E2B"/>
                </a:solidFill>
              </a:rPr>
              <a:t>Problème NP-difficile : les solveurs exacts (ILP) sont trop lents sur les grands graphes réels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F6E"/>
                </a:solidFill>
              </a:rPr>
              <a:t>One-to-One SkewGRAM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F6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E2B"/>
                </a:solidFill>
              </a:rPr>
              <a:t>Limites des approches existantes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371600" cy="54864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B1E2B"/>
                </a:solidFill>
              </a:rPr>
              <a:t>ILP2 (solveur exact)</a:t>
            </a:r>
          </a:p>
          <a:p>
            <a:pPr lvl="1">
              <a:spcAft>
                <a:spcPts val="1200"/>
              </a:spcAft>
            </a:pPr>
            <a:r>
              <a:rPr sz="1800" b="0">
                <a:solidFill>
                  <a:srgbClr val="5A5F6E"/>
                </a:solidFill>
              </a:rPr>
              <a:t>trouve la solution optimale, mais prend 28 secondes par instance de 100 nœuds — non scalable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B1E2B"/>
                </a:solidFill>
              </a:rPr>
              <a:t>GNN (DL2)</a:t>
            </a:r>
          </a:p>
          <a:p>
            <a:pPr lvl="1">
              <a:spcAft>
                <a:spcPts val="1200"/>
              </a:spcAft>
            </a:pPr>
            <a:r>
              <a:rPr sz="1800" b="0">
                <a:solidFill>
                  <a:srgbClr val="5A5F6E"/>
                </a:solidFill>
              </a:rPr>
              <a:t>rapide, mais trouve des chemins de seulement 1.2 nœuds en moyenne — qualité très insuffisante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B1E2B"/>
                </a:solidFill>
              </a:rPr>
              <a:t>Un compromis manquant entre qualité de solution et temps de calcul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F6E"/>
                </a:solidFill>
              </a:rPr>
              <a:t>One-to-One SkewGRAM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F6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E2B"/>
                </a:solidFill>
              </a:rPr>
              <a:t>Notre approche : One-to-One Skew-GRAM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371600" cy="54864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B1E2B"/>
                </a:solidFill>
              </a:rPr>
              <a:t>Transpose le principe Skip-Gram / DeepWalk / node2vec à ce problème d'optimisation sur deux graphes couplés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1E2B"/>
                </a:solidFill>
              </a:rPr>
              <a:t>1. Marches aléatoires sur D + sous-échantillonnage des hubs (formule word2vec)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1E2B"/>
                </a:solidFill>
              </a:rPr>
              <a:t>2. Entraînement des embeddings avec négatifs structurels (non-successeurs dans D)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1E2B"/>
                </a:solidFill>
              </a:rPr>
              <a:t>3. Décodage guidé conscient du DAG : programmation dynamique (plus long chemin restant, O(V+E)) + similarité d'embeddings + bonus de connexité à G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B1E2B"/>
                </a:solidFill>
              </a:rPr>
              <a:t>4. Extraction exacte du sous-chemin (D,G)-consistant par fenêtre glissante + Union-Find incrémental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F6E"/>
                </a:solidFill>
              </a:rPr>
              <a:t>One-to-One SkewGRAM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F6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E2B"/>
                </a:solidFill>
              </a:rPr>
              <a:t>Résultats expérimentaux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371600" cy="54864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A5F6E"/>
                </a:solidFill>
              </a:rPr>
              <a:t>38 instances, 100 nœuds (36 avec optimum ILP2 connu)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8686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Qualité moyenne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Temps moyen</a:t>
                      </a:r>
                    </a:p>
                  </a:txBody>
                  <a:tcPr>
                    <a:solidFill>
                      <a:srgbClr val="1B1E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E2B"/>
                          </a:solidFill>
                        </a:rPr>
                        <a:t>ILP2 (référence exacte)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E2B"/>
                          </a:solidFill>
                        </a:rPr>
                        <a:t>9.97 nœuds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E2B"/>
                          </a:solidFill>
                        </a:rPr>
                        <a:t>28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E2B"/>
                          </a:solidFill>
                        </a:rPr>
                        <a:t>Skew-GRAM (notre méthode)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E2B"/>
                          </a:solidFill>
                        </a:rPr>
                        <a:t>7.13 nœuds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E2B"/>
                          </a:solidFill>
                        </a:rPr>
                        <a:t>2.7 s</a:t>
                      </a:r>
                    </a:p>
                  </a:txBody>
                  <a:tcPr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B1E2B"/>
                </a:solidFill>
              </a:rPr>
              <a:t>~10x plus rapide qu'ILP2, avec un écart moyen de seulement -30% vs l'optimum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B1E2B"/>
                </a:solidFill>
              </a:rPr>
              <a:t>Égale ou dépasse ILP2 sur 13 des 36 instances avec optimum connu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B1E2B"/>
                </a:solidFill>
              </a:rPr>
              <a:t>Très largement au-dessus de l'état de l'art GNN (1.2 nœuds)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F6E"/>
                </a:solidFill>
              </a:rPr>
              <a:t>One-to-One SkewGRAM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F6E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